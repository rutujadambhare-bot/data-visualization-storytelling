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69494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200" b="1">
                <a:solidFill>
                  <a:srgbClr val="16305B"/>
                </a:solidFill>
                <a:latin typeface="Aptos"/>
              </a:rPr>
              <a:t>DATA VISUALIZATION
&amp; STORYTELLING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6766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0">
                <a:solidFill>
                  <a:srgbClr val="646E7D"/>
                </a:solidFill>
                <a:latin typeface="Aptos"/>
              </a:rPr>
              <a:t>Sample Superstore — turning charts into a business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971800"/>
            <a:ext cx="68580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154680"/>
            <a:ext cx="2926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07E28"/>
                </a:solidFill>
                <a:latin typeface="Aptos"/>
              </a:rPr>
              <a:t>CENTRAL BUSINESS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56432"/>
            <a:ext cx="6126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6305B"/>
                </a:solidFill>
                <a:latin typeface="Aptos"/>
              </a:rPr>
              <a:t>Why is strong sales growth not translating into equally strong profit?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097280"/>
            <a:ext cx="1143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1" y="1353312"/>
            <a:ext cx="10058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6305B"/>
                </a:solidFill>
                <a:latin typeface="Aptos"/>
              </a:rPr>
              <a:t>$2.30M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1783080"/>
            <a:ext cx="1005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646E7D"/>
                </a:solidFill>
                <a:latin typeface="Aptos"/>
              </a:rPr>
              <a:t>TOTAL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59" y="1097280"/>
            <a:ext cx="1143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54311" y="1353312"/>
            <a:ext cx="10058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6305B"/>
                </a:solidFill>
                <a:latin typeface="Aptos"/>
              </a:rPr>
              <a:t>$286K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4311" y="1783080"/>
            <a:ext cx="1005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646E7D"/>
                </a:solidFill>
                <a:latin typeface="Aptos"/>
              </a:rPr>
              <a:t>TOTAL PROFIT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1097280"/>
            <a:ext cx="114300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80192" y="1353312"/>
            <a:ext cx="10058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6305B"/>
                </a:solidFill>
                <a:latin typeface="Aptos"/>
              </a:rPr>
              <a:t>12.5%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1783080"/>
            <a:ext cx="1005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646E7D"/>
                </a:solidFill>
                <a:latin typeface="Aptos"/>
              </a:rPr>
              <a:t>PROFIT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73152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646E7D"/>
                </a:solidFill>
                <a:latin typeface="Aptos"/>
              </a:rPr>
              <a:t>Tools: Power BI / Tableau  •  Deliverable: 6-slide visual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46E7D"/>
                </a:solidFill>
                <a:latin typeface="Aptos"/>
              </a:rPr>
              <a:t>Data Visualization &amp; Storytelling  •  Sample Superstore  •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6305B"/>
                </a:solidFill>
                <a:latin typeface="Aptos"/>
              </a:rPr>
              <a:t>1. Context — sales are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46E7D"/>
                </a:solidFill>
                <a:latin typeface="Aptos"/>
              </a:rPr>
              <a:t>The first question is whether the business has a demand problem.</a:t>
            </a:r>
          </a:p>
        </p:txBody>
      </p:sp>
      <p:pic>
        <p:nvPicPr>
          <p:cNvPr id="5" name="Picture 4" descr="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7680960" cy="363993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508760"/>
            <a:ext cx="2743200" cy="3474720"/>
          </a:xfrm>
          <a:prstGeom prst="round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783080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07E28"/>
                </a:solidFill>
                <a:latin typeface="Aptos"/>
              </a:rPr>
              <a:t>WHAT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240280"/>
            <a:ext cx="2194560" cy="1005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6305B"/>
                </a:solidFill>
                <a:latin typeface="Aptos"/>
              </a:rPr>
              <a:t>Sales rose from about
$484K in 2019 to
$734K in 2022.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474720"/>
            <a:ext cx="214884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232B37"/>
                </a:solidFill>
                <a:latin typeface="Aptos"/>
              </a:rPr>
              <a:t>The story is therefore not about generating demand — it is about protecting the value created by that demand.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989320"/>
            <a:ext cx="10972800" cy="502920"/>
          </a:xfrm>
          <a:prstGeom prst="roundRect">
            <a:avLst/>
          </a:prstGeom>
          <a:solidFill>
            <a:srgbClr val="F8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044184"/>
            <a:ext cx="10607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6305B"/>
                </a:solidFill>
                <a:latin typeface="Aptos"/>
              </a:rPr>
              <a:t>TAKEAWAY  |  Sales growth is healthy; the business should focus on where sales are least profitable.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46E7D"/>
                </a:solidFill>
                <a:latin typeface="Aptos"/>
              </a:rPr>
              <a:t>Data Visualization &amp; Storytelling  •  Sample Superstore  •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6305B"/>
                </a:solidFill>
                <a:latin typeface="Aptos"/>
              </a:rPr>
              <a:t>2. Problem — revenue and profit tell different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46E7D"/>
                </a:solidFill>
                <a:latin typeface="Aptos"/>
              </a:rPr>
              <a:t>Compare the size of each category with the profit it actually keeps.</a:t>
            </a:r>
          </a:p>
        </p:txBody>
      </p:sp>
      <p:pic>
        <p:nvPicPr>
          <p:cNvPr id="5" name="Picture 4" descr="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7680960" cy="36356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41080" y="1508760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6305B"/>
                </a:solidFill>
                <a:latin typeface="Aptos"/>
              </a:rPr>
              <a:t>Furniture is the warning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2148840"/>
            <a:ext cx="265176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232B37"/>
                </a:solidFill>
                <a:latin typeface="Aptos"/>
              </a:rPr>
              <a:t>• ~ $742K sales
• only ~ $18K profit
• ~2.5% profit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3657600"/>
            <a:ext cx="256032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46E7D"/>
                </a:solidFill>
                <a:latin typeface="Aptos"/>
              </a:rPr>
              <a:t>Technology leads both revenue and profit, while Furniture produces a large amount of sales with very little bottom-line return.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989320"/>
            <a:ext cx="10972800" cy="502920"/>
          </a:xfrm>
          <a:prstGeom prst="roundRect">
            <a:avLst/>
          </a:prstGeom>
          <a:solidFill>
            <a:srgbClr val="F8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44184"/>
            <a:ext cx="10607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6305B"/>
                </a:solidFill>
                <a:latin typeface="Aptos"/>
              </a:rPr>
              <a:t>TAKEAWAY  |  Furniture is the clearest gap: high revenue does not mean healthy profitability.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46E7D"/>
                </a:solidFill>
                <a:latin typeface="Aptos"/>
              </a:rPr>
              <a:t>Data Visualization &amp; Storytelling  •  Sample Superstore  •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6305B"/>
                </a:solidFill>
                <a:latin typeface="Aptos"/>
              </a:rPr>
              <a:t>3. Evidence — discounting is a margin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46E7D"/>
                </a:solidFill>
                <a:latin typeface="Aptos"/>
              </a:rPr>
              <a:t>The deeper the discount band, the more profit pressure appears.</a:t>
            </a:r>
          </a:p>
        </p:txBody>
      </p:sp>
      <p:pic>
        <p:nvPicPr>
          <p:cNvPr id="5" name="Picture 4" descr="dis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7680960" cy="36356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41080" y="1508760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6305B"/>
                </a:solidFill>
                <a:latin typeface="Aptos"/>
              </a:rPr>
              <a:t>What this suggests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2148840"/>
            <a:ext cx="26060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232B37"/>
                </a:solidFill>
                <a:latin typeface="Aptos"/>
              </a:rPr>
              <a:t>20% discounts remain positive but weaken margin.
At 30%+, the relationship turns negative in the summarized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3977639"/>
            <a:ext cx="25603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E07E28"/>
                </a:solidFill>
                <a:latin typeface="Aptos"/>
              </a:rPr>
              <a:t>Discounts can stimulate volume, but blanket discounting can destroy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989320"/>
            <a:ext cx="10972800" cy="502920"/>
          </a:xfrm>
          <a:prstGeom prst="roundRect">
            <a:avLst/>
          </a:prstGeom>
          <a:solidFill>
            <a:srgbClr val="F8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44184"/>
            <a:ext cx="10607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6305B"/>
                </a:solidFill>
                <a:latin typeface="Aptos"/>
              </a:rPr>
              <a:t>TAKEAWAY  |  Use discounts selectively — especially on low-margin Furniture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46E7D"/>
                </a:solidFill>
                <a:latin typeface="Aptos"/>
              </a:rPr>
              <a:t>Data Visualization &amp; Storytelling  •  Sample Superstore  •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6305B"/>
                </a:solidFill>
                <a:latin typeface="Aptos"/>
              </a:rPr>
              <a:t>4. Evidence — a few sub-categories drive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46E7D"/>
                </a:solidFill>
                <a:latin typeface="Aptos"/>
              </a:rPr>
              <a:t>Profit concentration points to specific places where action can be targeted.</a:t>
            </a:r>
          </a:p>
        </p:txBody>
      </p:sp>
      <p:pic>
        <p:nvPicPr>
          <p:cNvPr id="5" name="Picture 4" descr="sub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7680960" cy="36353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41080" y="1508760"/>
            <a:ext cx="2743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6305B"/>
                </a:solidFill>
                <a:latin typeface="Aptos"/>
              </a:rPr>
              <a:t>Profit engines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2148840"/>
            <a:ext cx="2606040" cy="1325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232B37"/>
                </a:solidFill>
                <a:latin typeface="Aptos"/>
              </a:rPr>
              <a:t>Copiers, Phones and Accessories are strong contributors.
Tables is the largest visible loss-maker in this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3840480"/>
            <a:ext cx="256032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E07E28"/>
                </a:solidFill>
                <a:latin typeface="Aptos"/>
              </a:rPr>
              <a:t>This means the business does not need a broad cost-cutting strategy. It needs focused pricing and product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989320"/>
            <a:ext cx="10972800" cy="502920"/>
          </a:xfrm>
          <a:prstGeom prst="roundRect">
            <a:avLst/>
          </a:prstGeom>
          <a:solidFill>
            <a:srgbClr val="F8F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44184"/>
            <a:ext cx="106070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6305B"/>
                </a:solidFill>
                <a:latin typeface="Aptos"/>
              </a:rPr>
              <a:t>TAKEAWAY  |  Protect high-profit sub-categories and fix loss-making ones before chasing more volume.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46E7D"/>
                </a:solidFill>
                <a:latin typeface="Aptos"/>
              </a:rPr>
              <a:t>Data Visualization &amp; Storytelling  •  Sample Superstore  •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16305B"/>
                </a:solidFill>
                <a:latin typeface="Aptos"/>
              </a:rPr>
              <a:t>5. Recommendation — protect margin while keeping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646E7D"/>
                </a:solidFill>
                <a:latin typeface="Aptos"/>
              </a:rPr>
              <a:t>Turn the analysis into three practical actions.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E0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399032"/>
            <a:ext cx="3657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6305B"/>
                </a:solidFill>
                <a:latin typeface="Aptos"/>
              </a:rPr>
              <a:t>Reduce blanket discounts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810512"/>
            <a:ext cx="8778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232B37"/>
                </a:solidFill>
                <a:latin typeface="Aptos"/>
              </a:rPr>
              <a:t>Set approval thresholds for discounts above 20%, especially in Furniture.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743200"/>
            <a:ext cx="594360" cy="594360"/>
          </a:xfrm>
          <a:prstGeom prst="ellipse">
            <a:avLst/>
          </a:prstGeom>
          <a:solidFill>
            <a:srgbClr val="E0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0720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724912"/>
            <a:ext cx="3657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6305B"/>
                </a:solidFill>
                <a:latin typeface="Aptos"/>
              </a:rPr>
              <a:t>Fix loss-making 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136392"/>
            <a:ext cx="8778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232B37"/>
                </a:solidFill>
                <a:latin typeface="Aptos"/>
              </a:rPr>
              <a:t>Review pricing, supplier cost and promotion strategy for Tables and Bookcases.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rgbClr val="E07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33088"/>
            <a:ext cx="594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50792"/>
            <a:ext cx="3657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6305B"/>
                </a:solidFill>
                <a:latin typeface="Aptos"/>
              </a:rPr>
              <a:t>Scale profitable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462272"/>
            <a:ext cx="87782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0">
                <a:solidFill>
                  <a:srgbClr val="232B37"/>
                </a:solidFill>
                <a:latin typeface="Aptos"/>
              </a:rPr>
              <a:t>Prioritize Technology and high-margin sub-categories in campaigns and sales focus.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440680"/>
            <a:ext cx="106527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07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559552"/>
            <a:ext cx="101498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>
                <a:solidFill>
                  <a:srgbClr val="16305B"/>
                </a:solidFill>
                <a:latin typeface="Aptos"/>
              </a:rPr>
              <a:t>STORY IN ONE LINE  |  Demand is growing — the next growth opportunity is better-quality revenue, not simply more revenue.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646E7D"/>
                </a:solidFill>
                <a:latin typeface="Aptos"/>
              </a:rPr>
              <a:t>Data Visualization &amp; Storytelling  •  Sample Superstore  •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